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AB72830-43FB-46D1-A7AB-6E8A3445D731}" v="1" dt="2026-06-05T18:46:41.61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gadeeswar Reddy" userId="bcd27d93f730bbc2" providerId="LiveId" clId="{126207CD-AAF5-497F-8790-0982E5FEAF21}"/>
    <pc:docChg chg="modSld">
      <pc:chgData name="Jagadeeswar Reddy" userId="bcd27d93f730bbc2" providerId="LiveId" clId="{126207CD-AAF5-497F-8790-0982E5FEAF21}" dt="2026-06-05T18:46:41.619" v="0"/>
      <pc:docMkLst>
        <pc:docMk/>
      </pc:docMkLst>
      <pc:sldChg chg="modSp">
        <pc:chgData name="Jagadeeswar Reddy" userId="bcd27d93f730bbc2" providerId="LiveId" clId="{126207CD-AAF5-497F-8790-0982E5FEAF21}" dt="2026-06-05T18:46:41.619" v="0"/>
        <pc:sldMkLst>
          <pc:docMk/>
          <pc:sldMk cId="0" sldId="256"/>
        </pc:sldMkLst>
        <pc:spChg chg="mod">
          <ac:chgData name="Jagadeeswar Reddy" userId="bcd27d93f730bbc2" providerId="LiveId" clId="{126207CD-AAF5-497F-8790-0982E5FEAF21}" dt="2026-06-05T18:46:41.619" v="0"/>
          <ac:spMkLst>
            <pc:docMk/>
            <pc:sldMk cId="0" sldId="256"/>
            <ac:spMk id="3" creationId="{00000000-0000-0000-0000-000000000000}"/>
          </ac:spMkLst>
        </pc:spChg>
      </pc:sldChg>
      <pc:sldChg chg="modSp">
        <pc:chgData name="Jagadeeswar Reddy" userId="bcd27d93f730bbc2" providerId="LiveId" clId="{126207CD-AAF5-497F-8790-0982E5FEAF21}" dt="2026-06-05T18:46:41.619" v="0"/>
        <pc:sldMkLst>
          <pc:docMk/>
          <pc:sldMk cId="0" sldId="258"/>
        </pc:sldMkLst>
        <pc:spChg chg="mod">
          <ac:chgData name="Jagadeeswar Reddy" userId="bcd27d93f730bbc2" providerId="LiveId" clId="{126207CD-AAF5-497F-8790-0982E5FEAF21}" dt="2026-06-05T18:46:41.619" v="0"/>
          <ac:spMkLst>
            <pc:docMk/>
            <pc:sldMk cId="0" sldId="258"/>
            <ac:spMk id="3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10058400" cy="218521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GB" sz="6400" b="1" dirty="0" err="1">
                <a:solidFill>
                  <a:srgbClr val="FFFFFF"/>
                </a:solidFill>
                <a:latin typeface="Arial"/>
              </a:rPr>
              <a:t>onedrop</a:t>
            </a:r>
            <a:endParaRPr sz="6400" b="1" dirty="0">
              <a:solidFill>
                <a:srgbClr val="FFFFFF"/>
              </a:solidFill>
              <a:latin typeface="Arial"/>
            </a:endParaRPr>
          </a:p>
          <a:p>
            <a:pPr>
              <a:spcBef>
                <a:spcPts val="1200"/>
              </a:spcBef>
            </a:pPr>
            <a:r>
              <a:rPr sz="2000" b="1" dirty="0">
                <a:solidFill>
                  <a:srgbClr val="EF4444"/>
                </a:solidFill>
                <a:latin typeface="Arial"/>
              </a:rPr>
              <a:t>Next-Generation Smart Blood Management &amp; P2P Bridging Platform</a:t>
            </a:r>
          </a:p>
          <a:p>
            <a:pPr>
              <a:spcBef>
                <a:spcPts val="2400"/>
              </a:spcBef>
            </a:pPr>
            <a:r>
              <a:rPr sz="1400" dirty="0">
                <a:solidFill>
                  <a:srgbClr val="94A3B8"/>
                </a:solidFill>
                <a:latin typeface="Arial"/>
              </a:rPr>
              <a:t>An intelligent, high-throughput microservices architecture connecting donors, recipients, and hospitals with real-time communications and machine learning analytics.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94A3B8"/>
                </a:solidFill>
                <a:latin typeface="Arial"/>
              </a:rPr>
              <a:t>System Architecture &amp; Comprehensive Overview  |  Technical Slide Deck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EF4444"/>
                </a:solidFill>
                <a:latin typeface="Arial"/>
              </a:rPr>
              <a:t>THE 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rial"/>
              </a:rPr>
              <a:t>The Critical Challenges in Blood Donation &amp; Matching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328416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3328416" cy="10972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2871216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EF4444"/>
                </a:solidFill>
                <a:latin typeface="Arial"/>
              </a:rPr>
              <a:t>[SILOS]</a:t>
            </a:r>
          </a:p>
          <a:p>
            <a:pPr>
              <a:spcBef>
                <a:spcPts val="1200"/>
              </a:spcBef>
            </a:pPr>
            <a:r>
              <a:rPr sz="2000" b="1">
                <a:solidFill>
                  <a:srgbClr val="FFFFFF"/>
                </a:solidFill>
                <a:latin typeface="Arial"/>
              </a:rPr>
              <a:t>Information &amp; Supply Silos</a:t>
            </a:r>
          </a:p>
          <a:p>
            <a:pPr>
              <a:spcBef>
                <a:spcPts val="1600"/>
              </a:spcBef>
            </a:pPr>
            <a:r>
              <a:rPr sz="1300">
                <a:solidFill>
                  <a:srgbClr val="94A3B8"/>
                </a:solidFill>
                <a:latin typeface="Arial"/>
              </a:rPr>
              <a:t>Blood banks, hospitals, and active donors operate in highly fragmented silos. Real-time availability of specific blood groups is extremely restricted, resulting in critical communication delays during medical emergencies.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25696" y="1828800"/>
            <a:ext cx="3328416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425696" y="1828800"/>
            <a:ext cx="3328416" cy="1097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54296" y="2103120"/>
            <a:ext cx="2871216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F59E0B"/>
                </a:solidFill>
                <a:latin typeface="Arial"/>
              </a:rPr>
              <a:t>[FRICTION]</a:t>
            </a:r>
          </a:p>
          <a:p>
            <a:pPr>
              <a:spcBef>
                <a:spcPts val="1200"/>
              </a:spcBef>
            </a:pPr>
            <a:r>
              <a:rPr sz="2000" b="1">
                <a:solidFill>
                  <a:srgbClr val="FFFFFF"/>
                </a:solidFill>
                <a:latin typeface="Arial"/>
              </a:rPr>
              <a:t>Inefficient Donor Matching</a:t>
            </a:r>
          </a:p>
          <a:p>
            <a:pPr>
              <a:spcBef>
                <a:spcPts val="1600"/>
              </a:spcBef>
            </a:pPr>
            <a:r>
              <a:rPr sz="1300">
                <a:solidFill>
                  <a:srgbClr val="94A3B8"/>
                </a:solidFill>
                <a:latin typeface="Arial"/>
              </a:rPr>
              <a:t>Emergency requests rely heavily on manual calls and social media broadcasting. Locating verified, eligible, and physically nearby donors in real-time is a chaotic process lacking scientific ranking or proximity filtering.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9872" y="1828800"/>
            <a:ext cx="3328416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119872" y="1828800"/>
            <a:ext cx="3328416" cy="10972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48472" y="2103120"/>
            <a:ext cx="2871216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EF4444"/>
                </a:solidFill>
                <a:latin typeface="Arial"/>
              </a:rPr>
              <a:t>[DEFICITS]</a:t>
            </a:r>
          </a:p>
          <a:p>
            <a:pPr>
              <a:spcBef>
                <a:spcPts val="1200"/>
              </a:spcBef>
            </a:pPr>
            <a:r>
              <a:rPr sz="2000" b="1">
                <a:solidFill>
                  <a:srgbClr val="FFFFFF"/>
                </a:solidFill>
                <a:latin typeface="Arial"/>
              </a:rPr>
              <a:t>Seasonal Shortage Vulnerability</a:t>
            </a:r>
          </a:p>
          <a:p>
            <a:pPr>
              <a:spcBef>
                <a:spcPts val="1600"/>
              </a:spcBef>
            </a:pPr>
            <a:r>
              <a:rPr sz="1300">
                <a:solidFill>
                  <a:srgbClr val="94A3B8"/>
                </a:solidFill>
                <a:latin typeface="Arial"/>
              </a:rPr>
              <a:t>Hospitals struggle with predictive inventory management. Without forecasting regional blood demand spikes and donation dips, administrations fail to take proactive measures before deficit situations arise.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EF4444"/>
                </a:solidFill>
                <a:latin typeface="Arial"/>
              </a:rPr>
              <a:t>THE CORE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728655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GB" sz="2800" b="1" dirty="0" err="1">
                <a:solidFill>
                  <a:srgbClr val="FFFFFF"/>
                </a:solidFill>
                <a:latin typeface="Arial"/>
              </a:rPr>
              <a:t>onedrop</a:t>
            </a:r>
            <a:r>
              <a:rPr sz="2800" b="1" dirty="0">
                <a:solidFill>
                  <a:srgbClr val="FFFFFF"/>
                </a:solidFill>
                <a:latin typeface="Arial"/>
              </a:rPr>
              <a:t>: The Intelligent Blood Bridge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2450592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2450592" cy="10972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2084832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EF4444"/>
                </a:solidFill>
                <a:latin typeface="Arial"/>
              </a:rPr>
              <a:t>REAL-TIME</a:t>
            </a:r>
          </a:p>
          <a:p>
            <a:pPr>
              <a:spcBef>
                <a:spcPts val="800"/>
              </a:spcBef>
            </a:pPr>
            <a:r>
              <a:rPr sz="1800" b="1">
                <a:solidFill>
                  <a:srgbClr val="FFFFFF"/>
                </a:solidFill>
                <a:latin typeface="Arial"/>
              </a:rPr>
              <a:t>Instant P2P Chat</a:t>
            </a:r>
          </a:p>
          <a:p>
            <a:pPr>
              <a:spcBef>
                <a:spcPts val="1200"/>
              </a:spcBef>
            </a:pPr>
            <a:r>
              <a:rPr sz="1200">
                <a:solidFill>
                  <a:srgbClr val="94A3B8"/>
                </a:solidFill>
                <a:latin typeface="Arial"/>
              </a:rPr>
              <a:t>Seamlessly connects donor and recipient directly in a secure, real-time chat workspace. Facilitates immediate coordination without publicizing sensitive contact details.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83864" y="1828800"/>
            <a:ext cx="2450592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483864" y="1828800"/>
            <a:ext cx="2450592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66744" y="2103120"/>
            <a:ext cx="2084832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10B981"/>
                </a:solidFill>
                <a:latin typeface="Arial"/>
              </a:rPr>
              <a:t>SMART FILTER</a:t>
            </a:r>
          </a:p>
          <a:p>
            <a:pPr>
              <a:spcBef>
                <a:spcPts val="800"/>
              </a:spcBef>
            </a:pPr>
            <a:r>
              <a:rPr sz="1800" b="1">
                <a:solidFill>
                  <a:srgbClr val="FFFFFF"/>
                </a:solidFill>
                <a:latin typeface="Arial"/>
              </a:rPr>
              <a:t>AI Match &amp; Rank</a:t>
            </a:r>
          </a:p>
          <a:p>
            <a:pPr>
              <a:spcBef>
                <a:spcPts val="1200"/>
              </a:spcBef>
            </a:pPr>
            <a:r>
              <a:rPr sz="1200">
                <a:solidFill>
                  <a:srgbClr val="94A3B8"/>
                </a:solidFill>
                <a:latin typeface="Arial"/>
              </a:rPr>
              <a:t>ML algorithms parse geographical factors, active availability, verification status, and historical eligibility to rank and list the ideal matching donors within seconds.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8" y="1828800"/>
            <a:ext cx="2450592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36208" y="1828800"/>
            <a:ext cx="2450592" cy="1097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19088" y="2103120"/>
            <a:ext cx="2084832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F59E0B"/>
                </a:solidFill>
                <a:latin typeface="Arial"/>
              </a:rPr>
              <a:t>FORECASTING</a:t>
            </a:r>
          </a:p>
          <a:p>
            <a:pPr>
              <a:spcBef>
                <a:spcPts val="800"/>
              </a:spcBef>
            </a:pPr>
            <a:r>
              <a:rPr sz="1800" b="1">
                <a:solidFill>
                  <a:srgbClr val="FFFFFF"/>
                </a:solidFill>
                <a:latin typeface="Arial"/>
              </a:rPr>
              <a:t>Predictive Shortage</a:t>
            </a:r>
          </a:p>
          <a:p>
            <a:pPr>
              <a:spcBef>
                <a:spcPts val="1200"/>
              </a:spcBef>
            </a:pPr>
            <a:r>
              <a:rPr sz="1200">
                <a:solidFill>
                  <a:srgbClr val="94A3B8"/>
                </a:solidFill>
                <a:latin typeface="Arial"/>
              </a:rPr>
              <a:t>Empowers hospitals with Scikit-Learn based intelligence forecasting blood inventory deficit levels dynamically based on local historical data and seasonal trends.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88552" y="1828800"/>
            <a:ext cx="2450592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988552" y="1828800"/>
            <a:ext cx="2450592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71432" y="2103120"/>
            <a:ext cx="2084832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10B981"/>
                </a:solidFill>
                <a:latin typeface="Arial"/>
              </a:rPr>
              <a:t>RETENTION</a:t>
            </a:r>
          </a:p>
          <a:p>
            <a:pPr>
              <a:spcBef>
                <a:spcPts val="800"/>
              </a:spcBef>
            </a:pPr>
            <a:r>
              <a:rPr sz="1800" b="1">
                <a:solidFill>
                  <a:srgbClr val="FFFFFF"/>
                </a:solidFill>
                <a:latin typeface="Arial"/>
              </a:rPr>
              <a:t>Gamified Rewards</a:t>
            </a:r>
          </a:p>
          <a:p>
            <a:pPr>
              <a:spcBef>
                <a:spcPts val="1200"/>
              </a:spcBef>
            </a:pPr>
            <a:r>
              <a:rPr sz="1200">
                <a:solidFill>
                  <a:srgbClr val="94A3B8"/>
                </a:solidFill>
                <a:latin typeface="Arial"/>
              </a:rPr>
              <a:t>Encourages a continuous culture of blood donations through a point-based gamified structure, milestone achievement tracker, and verified donor validation trust badges.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EF4444"/>
                </a:solidFill>
                <a:latin typeface="Arial"/>
              </a:rP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rial"/>
              </a:rPr>
              <a:t>Robust High-Performance Microservices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83080"/>
            <a:ext cx="10728655" cy="100584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1783080"/>
            <a:ext cx="137160" cy="10058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1892808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EF4444"/>
                </a:solidFill>
                <a:latin typeface="Arial"/>
              </a:rPr>
              <a:t>1. PREMIUM CLIENT PORTAL</a:t>
            </a:r>
            <a:r>
              <a:rPr sz="1200" b="1">
                <a:solidFill>
                  <a:srgbClr val="FFFFFF"/>
                </a:solidFill>
                <a:latin typeface="Arial"/>
              </a:rPr>
              <a:t>   |   React 18 / Redux Toolkit / CSS Glassmorphism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94A3B8"/>
                </a:solidFill>
                <a:latin typeface="Arial"/>
              </a:rPr>
              <a:t>Role-specific intuitive portals for Admin, Donor, Recipient, and Hospital. Dynamic dashboard states &amp; localized routing.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926080"/>
            <a:ext cx="10728655" cy="100584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2926080"/>
            <a:ext cx="137160" cy="10058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3035808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F59E0B"/>
                </a:solidFill>
                <a:latin typeface="Arial"/>
              </a:rPr>
              <a:t>2. API GATEWAY &amp; CORE BACKEND</a:t>
            </a:r>
            <a:r>
              <a:rPr sz="1200" b="1">
                <a:solidFill>
                  <a:srgbClr val="FFFFFF"/>
                </a:solidFill>
                <a:latin typeface="Arial"/>
              </a:rPr>
              <a:t>   |   Node.js / Express.js / MongoDB Database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94A3B8"/>
                </a:solidFill>
                <a:latin typeface="Arial"/>
              </a:rPr>
              <a:t>Handles core API requests, authenticates sessions with secure JWTs, coordinates chat sockets, and manages persistent user schema structures.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69080"/>
            <a:ext cx="10728655" cy="100584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31520" y="4069080"/>
            <a:ext cx="137160" cy="10058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97280" y="4178808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10B981"/>
                </a:solidFill>
                <a:latin typeface="Arial"/>
              </a:rPr>
              <a:t>3. PREDICTIVE ML ENGINE</a:t>
            </a:r>
            <a:r>
              <a:rPr sz="1200" b="1">
                <a:solidFill>
                  <a:srgbClr val="FFFFFF"/>
                </a:solidFill>
                <a:latin typeface="Arial"/>
              </a:rPr>
              <a:t>   |   FastAPI Microservice / Python / Scikit-Learn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94A3B8"/>
                </a:solidFill>
                <a:latin typeface="Arial"/>
              </a:rPr>
              <a:t>Lightweight, highly optimized microservice supplying regional shortage predictions &amp; applying multidimensional ranking of eligible donors.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212080"/>
            <a:ext cx="10728655" cy="100584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31520" y="5212080"/>
            <a:ext cx="13716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97280" y="5321808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Arial"/>
              </a:rPr>
              <a:t>4. HIGH-THROUGHPUT ANALYTICS</a:t>
            </a:r>
            <a:r>
              <a:rPr sz="1200" b="1">
                <a:solidFill>
                  <a:srgbClr val="FFFFFF"/>
                </a:solidFill>
                <a:latin typeface="Arial"/>
              </a:rPr>
              <a:t>   |   Java Spring Boot / Scheduled Tasks Consolidation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94A3B8"/>
                </a:solidFill>
                <a:latin typeface="Arial"/>
              </a:rPr>
              <a:t>Consolidates large-volume system logs asynchronously, monitors queue parameters, and evaluates metrics under extreme latency targets.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EF4444"/>
                </a:solidFill>
                <a:latin typeface="Arial"/>
              </a:rPr>
              <a:t>USER DASHBOARD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rial"/>
              </a:rPr>
              <a:t>Targeted Operations: Multi-Role Dashboard States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328416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3328416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2871216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rial"/>
              </a:rPr>
              <a:t>Donor Dashboard</a:t>
            </a:r>
          </a:p>
          <a:p>
            <a:pPr>
              <a:spcBef>
                <a:spcPts val="1200"/>
              </a:spcBef>
            </a:pPr>
            <a:r>
              <a:rPr b="1">
                <a:solidFill>
                  <a:srgbClr val="10B981"/>
                </a:solidFill>
              </a:rPr>
              <a:t>• </a:t>
            </a:r>
            <a:r>
              <a:rPr sz="1150">
                <a:solidFill>
                  <a:srgbClr val="94A3B8"/>
                </a:solidFill>
                <a:latin typeface="Arial"/>
              </a:rPr>
              <a:t>Gamified Reward Points &amp; verified donor validation badges.</a:t>
            </a:r>
          </a:p>
          <a:p>
            <a:pPr>
              <a:spcBef>
                <a:spcPts val="1200"/>
              </a:spcBef>
            </a:pPr>
            <a:r>
              <a:rPr b="1">
                <a:solidFill>
                  <a:srgbClr val="10B981"/>
                </a:solidFill>
              </a:rPr>
              <a:t>• </a:t>
            </a:r>
            <a:r>
              <a:rPr sz="1150">
                <a:solidFill>
                  <a:srgbClr val="94A3B8"/>
                </a:solidFill>
                <a:latin typeface="Arial"/>
              </a:rPr>
              <a:t>Real-time toggles for donor active availability status.</a:t>
            </a:r>
          </a:p>
          <a:p>
            <a:pPr>
              <a:spcBef>
                <a:spcPts val="1200"/>
              </a:spcBef>
            </a:pPr>
            <a:r>
              <a:rPr b="1">
                <a:solidFill>
                  <a:srgbClr val="10B981"/>
                </a:solidFill>
              </a:rPr>
              <a:t>• </a:t>
            </a:r>
            <a:r>
              <a:rPr sz="1150">
                <a:solidFill>
                  <a:srgbClr val="94A3B8"/>
                </a:solidFill>
                <a:latin typeface="Arial"/>
              </a:rPr>
              <a:t>Comprehensive medical documentation &amp; upload interface.</a:t>
            </a:r>
          </a:p>
          <a:p>
            <a:pPr>
              <a:spcBef>
                <a:spcPts val="1200"/>
              </a:spcBef>
            </a:pPr>
            <a:r>
              <a:rPr b="1">
                <a:solidFill>
                  <a:srgbClr val="10B981"/>
                </a:solidFill>
              </a:rPr>
              <a:t>• </a:t>
            </a:r>
            <a:r>
              <a:rPr sz="1150">
                <a:solidFill>
                  <a:srgbClr val="94A3B8"/>
                </a:solidFill>
                <a:latin typeface="Arial"/>
              </a:rPr>
              <a:t>Upcoming campaign registrations and historic timeline.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25696" y="1828800"/>
            <a:ext cx="3328416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425696" y="1828800"/>
            <a:ext cx="3328416" cy="10972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54296" y="2103120"/>
            <a:ext cx="2871216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rial"/>
              </a:rPr>
              <a:t>Hospital Dashboard</a:t>
            </a:r>
          </a:p>
          <a:p>
            <a:pPr>
              <a:spcBef>
                <a:spcPts val="1200"/>
              </a:spcBef>
            </a:pPr>
            <a:r>
              <a:rPr b="1">
                <a:solidFill>
                  <a:srgbClr val="EF4444"/>
                </a:solidFill>
              </a:rPr>
              <a:t>• </a:t>
            </a:r>
            <a:r>
              <a:rPr sz="1150">
                <a:solidFill>
                  <a:srgbClr val="94A3B8"/>
                </a:solidFill>
                <a:latin typeface="Arial"/>
              </a:rPr>
              <a:t>Real-time blood stock levels and storage management.</a:t>
            </a:r>
          </a:p>
          <a:p>
            <a:pPr>
              <a:spcBef>
                <a:spcPts val="1200"/>
              </a:spcBef>
            </a:pPr>
            <a:r>
              <a:rPr b="1">
                <a:solidFill>
                  <a:srgbClr val="EF4444"/>
                </a:solidFill>
              </a:rPr>
              <a:t>• </a:t>
            </a:r>
            <a:r>
              <a:rPr sz="1150">
                <a:solidFill>
                  <a:srgbClr val="94A3B8"/>
                </a:solidFill>
                <a:latin typeface="Arial"/>
              </a:rPr>
              <a:t>Predictive analytics panel predicting regional shortage levels.</a:t>
            </a:r>
          </a:p>
          <a:p>
            <a:pPr>
              <a:spcBef>
                <a:spcPts val="1200"/>
              </a:spcBef>
            </a:pPr>
            <a:r>
              <a:rPr b="1">
                <a:solidFill>
                  <a:srgbClr val="EF4444"/>
                </a:solidFill>
              </a:rPr>
              <a:t>• </a:t>
            </a:r>
            <a:r>
              <a:rPr sz="1150">
                <a:solidFill>
                  <a:srgbClr val="94A3B8"/>
                </a:solidFill>
                <a:latin typeface="Arial"/>
              </a:rPr>
              <a:t>Advanced donor directory with proximity filtering.</a:t>
            </a:r>
          </a:p>
          <a:p>
            <a:pPr>
              <a:spcBef>
                <a:spcPts val="1200"/>
              </a:spcBef>
            </a:pPr>
            <a:r>
              <a:rPr b="1">
                <a:solidFill>
                  <a:srgbClr val="EF4444"/>
                </a:solidFill>
              </a:rPr>
              <a:t>• </a:t>
            </a:r>
            <a:r>
              <a:rPr sz="1150">
                <a:solidFill>
                  <a:srgbClr val="94A3B8"/>
                </a:solidFill>
                <a:latin typeface="Arial"/>
              </a:rPr>
              <a:t>Official campaign builder and notification broadcasts.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9872" y="1828800"/>
            <a:ext cx="3328416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119872" y="1828800"/>
            <a:ext cx="3328416" cy="1097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48472" y="2103120"/>
            <a:ext cx="2871216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rial"/>
              </a:rPr>
              <a:t>Recipient &amp; Admin</a:t>
            </a:r>
          </a:p>
          <a:p>
            <a:pPr>
              <a:spcBef>
                <a:spcPts val="1200"/>
              </a:spcBef>
            </a:pPr>
            <a:r>
              <a:rPr b="1">
                <a:solidFill>
                  <a:srgbClr val="F59E0B"/>
                </a:solidFill>
              </a:rPr>
              <a:t>• </a:t>
            </a:r>
            <a:r>
              <a:rPr sz="1150">
                <a:solidFill>
                  <a:srgbClr val="94A3B8"/>
                </a:solidFill>
                <a:latin typeface="Arial"/>
              </a:rPr>
              <a:t>Fast, clean blood emergency requests generation wizard.</a:t>
            </a:r>
          </a:p>
          <a:p>
            <a:pPr>
              <a:spcBef>
                <a:spcPts val="1200"/>
              </a:spcBef>
            </a:pPr>
            <a:r>
              <a:rPr b="1">
                <a:solidFill>
                  <a:srgbClr val="F59E0B"/>
                </a:solidFill>
              </a:rPr>
              <a:t>• </a:t>
            </a:r>
            <a:r>
              <a:rPr sz="1150">
                <a:solidFill>
                  <a:srgbClr val="94A3B8"/>
                </a:solidFill>
                <a:latin typeface="Arial"/>
              </a:rPr>
              <a:t>P2P direct chat hub for immediate donor coordinate sessions.</a:t>
            </a:r>
          </a:p>
          <a:p>
            <a:pPr>
              <a:spcBef>
                <a:spcPts val="1200"/>
              </a:spcBef>
            </a:pPr>
            <a:r>
              <a:rPr b="1">
                <a:solidFill>
                  <a:srgbClr val="F59E0B"/>
                </a:solidFill>
              </a:rPr>
              <a:t>• </a:t>
            </a:r>
            <a:r>
              <a:rPr sz="1150">
                <a:solidFill>
                  <a:srgbClr val="94A3B8"/>
                </a:solidFill>
                <a:latin typeface="Arial"/>
              </a:rPr>
              <a:t>Admin audit logs, campaign moderation, and user checks.</a:t>
            </a:r>
          </a:p>
          <a:p>
            <a:pPr>
              <a:spcBef>
                <a:spcPts val="1200"/>
              </a:spcBef>
            </a:pPr>
            <a:r>
              <a:rPr b="1">
                <a:solidFill>
                  <a:srgbClr val="F59E0B"/>
                </a:solidFill>
              </a:rPr>
              <a:t>• </a:t>
            </a:r>
            <a:r>
              <a:rPr sz="1150">
                <a:solidFill>
                  <a:srgbClr val="94A3B8"/>
                </a:solidFill>
                <a:latin typeface="Arial"/>
              </a:rPr>
              <a:t>Comprehensive visual metrics representing platform status.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EF4444"/>
                </a:solidFill>
                <a:latin typeface="Arial"/>
              </a:rPr>
              <a:t>PREDICTIVE AI &amp; FASTAPI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rial"/>
              </a:rPr>
              <a:t>Deep Dive: Smart Donor Ranking &amp; Shortage Prediction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175504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5175504" cy="10972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103120"/>
            <a:ext cx="4626864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rial"/>
              </a:rPr>
              <a:t>1. Regional Shortage Prediction</a:t>
            </a:r>
          </a:p>
          <a:p>
            <a:pPr>
              <a:spcBef>
                <a:spcPts val="1000"/>
              </a:spcBef>
            </a:pPr>
            <a:r>
              <a:rPr sz="1200" b="1">
                <a:solidFill>
                  <a:srgbClr val="EF4444"/>
                </a:solidFill>
              </a:rPr>
              <a:t>API Endpoint: </a:t>
            </a:r>
            <a:r>
              <a:rPr sz="1200">
                <a:solidFill>
                  <a:srgbClr val="94A3B8"/>
                </a:solidFill>
              </a:rPr>
              <a:t>/api/ai/predict-shortage (POST)</a:t>
            </a:r>
          </a:p>
          <a:p>
            <a:pPr>
              <a:spcBef>
                <a:spcPts val="1000"/>
              </a:spcBef>
            </a:pPr>
            <a:r>
              <a:rPr sz="1200" b="1">
                <a:solidFill>
                  <a:srgbClr val="EF4444"/>
                </a:solidFill>
              </a:rPr>
              <a:t>Model Inputs: </a:t>
            </a:r>
            <a:r>
              <a:rPr sz="1200">
                <a:solidFill>
                  <a:srgbClr val="94A3B8"/>
                </a:solidFill>
              </a:rPr>
              <a:t>Month, State Code, Pincode Factor, Current Inventory, &amp; Previous Month Demand.</a:t>
            </a:r>
          </a:p>
          <a:p>
            <a:pPr>
              <a:spcBef>
                <a:spcPts val="1000"/>
              </a:spcBef>
            </a:pPr>
            <a:r>
              <a:rPr sz="1200" b="1">
                <a:solidFill>
                  <a:srgbClr val="EF4444"/>
                </a:solidFill>
              </a:rPr>
              <a:t>ML Algorithm: </a:t>
            </a:r>
            <a:r>
              <a:rPr sz="1200">
                <a:solidFill>
                  <a:srgbClr val="94A3B8"/>
                </a:solidFill>
              </a:rPr>
              <a:t>Scikit-Learn Regression pipeline evaluating stock density values.</a:t>
            </a:r>
          </a:p>
          <a:p>
            <a:pPr>
              <a:spcBef>
                <a:spcPts val="1000"/>
              </a:spcBef>
            </a:pPr>
            <a:r>
              <a:rPr sz="1200" b="1">
                <a:solidFill>
                  <a:srgbClr val="EF4444"/>
                </a:solidFill>
              </a:rPr>
              <a:t>Output Signal: </a:t>
            </a:r>
            <a:r>
              <a:rPr sz="1200">
                <a:solidFill>
                  <a:srgbClr val="94A3B8"/>
                </a:solidFill>
              </a:rPr>
              <a:t>Quantifiable shortage index representing high-deficit risk vs safe-buffer margins.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2784" y="1828800"/>
            <a:ext cx="5175504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272784" y="1828800"/>
            <a:ext cx="5175504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47104" y="2103120"/>
            <a:ext cx="4626864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rial"/>
              </a:rPr>
              <a:t>2. Multi-Criteria Donor Ranking</a:t>
            </a:r>
          </a:p>
          <a:p>
            <a:pPr>
              <a:spcBef>
                <a:spcPts val="1000"/>
              </a:spcBef>
            </a:pPr>
            <a:r>
              <a:rPr sz="1200" b="1">
                <a:solidFill>
                  <a:srgbClr val="10B981"/>
                </a:solidFill>
              </a:rPr>
              <a:t>API Endpoint: </a:t>
            </a:r>
            <a:r>
              <a:rPr sz="1200">
                <a:solidFill>
                  <a:srgbClr val="94A3B8"/>
                </a:solidFill>
              </a:rPr>
              <a:t>/api/ai/rank-donors (POST)</a:t>
            </a:r>
          </a:p>
          <a:p>
            <a:pPr>
              <a:spcBef>
                <a:spcPts val="1000"/>
              </a:spcBef>
            </a:pPr>
            <a:r>
              <a:rPr sz="1200" b="1">
                <a:solidFill>
                  <a:srgbClr val="10B981"/>
                </a:solidFill>
              </a:rPr>
              <a:t>Geographical Match: </a:t>
            </a:r>
            <a:r>
              <a:rPr sz="1200">
                <a:solidFill>
                  <a:srgbClr val="94A3B8"/>
                </a:solidFill>
              </a:rPr>
              <a:t>Evaluates exact proximity matches across State, District, City, Area, &amp; Pincode.</a:t>
            </a:r>
          </a:p>
          <a:p>
            <a:pPr>
              <a:spcBef>
                <a:spcPts val="1000"/>
              </a:spcBef>
            </a:pPr>
            <a:r>
              <a:rPr sz="1200" b="1">
                <a:solidFill>
                  <a:srgbClr val="10B981"/>
                </a:solidFill>
              </a:rPr>
              <a:t>Engagement Metrics: </a:t>
            </a:r>
            <a:r>
              <a:rPr sz="1200">
                <a:solidFill>
                  <a:srgbClr val="94A3B8"/>
                </a:solidFill>
              </a:rPr>
              <a:t>Injects user verified checks, last donation date validation (safeguarding safety gaps), and gamified points.</a:t>
            </a:r>
          </a:p>
          <a:p>
            <a:pPr>
              <a:spcBef>
                <a:spcPts val="1000"/>
              </a:spcBef>
            </a:pPr>
            <a:r>
              <a:rPr sz="1200" b="1">
                <a:solidFill>
                  <a:srgbClr val="10B981"/>
                </a:solidFill>
              </a:rPr>
              <a:t>Result Output: </a:t>
            </a:r>
            <a:r>
              <a:rPr sz="1200">
                <a:solidFill>
                  <a:srgbClr val="94A3B8"/>
                </a:solidFill>
              </a:rPr>
              <a:t>A sorted catalog of active available donors ranked on real availability score, preventing unnecessary notification fatigue.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EF4444"/>
                </a:solidFill>
                <a:latin typeface="Arial"/>
              </a:rPr>
              <a:t>SPRING BOOT ANALYTICS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rial"/>
              </a:rPr>
              <a:t>Asynchronous Log Consolidation &amp; Microservice Monitoring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0728655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10728655" cy="1097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100584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Arial"/>
              </a:rPr>
              <a:t>Microservice Specifications: /api/analytics</a:t>
            </a:r>
          </a:p>
          <a:p>
            <a:pPr>
              <a:spcBef>
                <a:spcPts val="1400"/>
              </a:spcBef>
            </a:pPr>
            <a:r>
              <a:rPr sz="1350" b="1">
                <a:solidFill>
                  <a:srgbClr val="F59E0B"/>
                </a:solidFill>
              </a:rPr>
              <a:t>Background Consolidation   —   </a:t>
            </a:r>
            <a:r>
              <a:rPr sz="1300">
                <a:solidFill>
                  <a:srgbClr val="94A3B8"/>
                </a:solidFill>
              </a:rPr>
              <a:t>Configured with Spring Scheduling tasks consolidation, running at fixed 15-second cycles to emulate heavy logging clusters and compress operational metrics.</a:t>
            </a:r>
          </a:p>
          <a:p>
            <a:pPr>
              <a:spcBef>
                <a:spcPts val="1400"/>
              </a:spcBef>
            </a:pPr>
            <a:r>
              <a:rPr sz="1350" b="1">
                <a:solidFill>
                  <a:srgbClr val="F59E0B"/>
                </a:solidFill>
              </a:rPr>
              <a:t>Simulated Message Queue   —   </a:t>
            </a:r>
            <a:r>
              <a:rPr sz="1300">
                <a:solidFill>
                  <a:srgbClr val="94A3B8"/>
                </a:solidFill>
              </a:rPr>
              <a:t>Monitors simulated queue performance indices (average latency stable at 42.5ms, processed jobs: ~1420+, generated reports: ~385+).</a:t>
            </a:r>
          </a:p>
          <a:p>
            <a:pPr>
              <a:spcBef>
                <a:spcPts val="1400"/>
              </a:spcBef>
            </a:pPr>
            <a:r>
              <a:rPr sz="1350" b="1">
                <a:solidFill>
                  <a:srgbClr val="F59E0B"/>
                </a:solidFill>
              </a:rPr>
              <a:t>System Indicators   —   </a:t>
            </a:r>
            <a:r>
              <a:rPr sz="1300">
                <a:solidFill>
                  <a:srgbClr val="94A3B8"/>
                </a:solidFill>
              </a:rPr>
              <a:t>Exposes endpoints for system summary (/system-summary) and monthly donation vs demand distribution ratios (/monthly-distribution) for visualization charts.</a:t>
            </a:r>
          </a:p>
          <a:p>
            <a:pPr>
              <a:spcBef>
                <a:spcPts val="1400"/>
              </a:spcBef>
            </a:pPr>
            <a:r>
              <a:rPr sz="1350" b="1">
                <a:solidFill>
                  <a:srgbClr val="F59E0B"/>
                </a:solidFill>
              </a:rPr>
              <a:t>Framework Stack   —   </a:t>
            </a:r>
            <a:r>
              <a:rPr sz="1300">
                <a:solidFill>
                  <a:srgbClr val="94A3B8"/>
                </a:solidFill>
              </a:rPr>
              <a:t>Java 17, Spring Boot 3.2.5, Web modules, scheduling, cross-origin allowed REST structures for backend gateway synchronization.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EF4444"/>
                </a:solidFill>
                <a:latin typeface="Arial"/>
              </a:rPr>
              <a:t>ROADMAP &amp; STACK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rial"/>
              </a:rPr>
              <a:t>Future Outlook, Value Delivery &amp; Technology Stack Summary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175504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5175504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103120"/>
            <a:ext cx="4626864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rial"/>
              </a:rPr>
              <a:t>Complete Technology Stack</a:t>
            </a:r>
          </a:p>
          <a:p>
            <a:pPr>
              <a:spcBef>
                <a:spcPts val="800"/>
              </a:spcBef>
            </a:pPr>
            <a:r>
              <a:rPr sz="1150" b="1">
                <a:solidFill>
                  <a:srgbClr val="10B981"/>
                </a:solidFill>
              </a:rPr>
              <a:t>Frontend client: </a:t>
            </a:r>
            <a:r>
              <a:rPr sz="1150">
                <a:solidFill>
                  <a:srgbClr val="94A3B8"/>
                </a:solidFill>
              </a:rPr>
              <a:t>React, Redux Toolkit, React-Router-Dom v6, Custom Glassmorphism Theme</a:t>
            </a:r>
          </a:p>
          <a:p>
            <a:pPr>
              <a:spcBef>
                <a:spcPts val="800"/>
              </a:spcBef>
            </a:pPr>
            <a:r>
              <a:rPr sz="1150" b="1">
                <a:solidFill>
                  <a:srgbClr val="10B981"/>
                </a:solidFill>
              </a:rPr>
              <a:t>Gateway &amp; API: </a:t>
            </a:r>
            <a:r>
              <a:rPr sz="1150">
                <a:solidFill>
                  <a:srgbClr val="94A3B8"/>
                </a:solidFill>
              </a:rPr>
              <a:t>Node.js, Express, MongoDB (Mongoose schemas), Socket.io (real-time chat)</a:t>
            </a:r>
          </a:p>
          <a:p>
            <a:pPr>
              <a:spcBef>
                <a:spcPts val="800"/>
              </a:spcBef>
            </a:pPr>
            <a:r>
              <a:rPr sz="1150" b="1">
                <a:solidFill>
                  <a:srgbClr val="10B981"/>
                </a:solidFill>
              </a:rPr>
              <a:t>AI Microservice: </a:t>
            </a:r>
            <a:r>
              <a:rPr sz="1150">
                <a:solidFill>
                  <a:srgbClr val="94A3B8"/>
                </a:solidFill>
              </a:rPr>
              <a:t>FastAPI (Python), Scikit-Learn, Pydantic, Uvicorn Server</a:t>
            </a:r>
          </a:p>
          <a:p>
            <a:pPr>
              <a:spcBef>
                <a:spcPts val="800"/>
              </a:spcBef>
            </a:pPr>
            <a:r>
              <a:rPr sz="1150" b="1">
                <a:solidFill>
                  <a:srgbClr val="10B981"/>
                </a:solidFill>
              </a:rPr>
              <a:t>Analytics: </a:t>
            </a:r>
            <a:r>
              <a:rPr sz="1150">
                <a:solidFill>
                  <a:srgbClr val="94A3B8"/>
                </a:solidFill>
              </a:rPr>
              <a:t>Java 17, Spring Boot 3.2.5, Spring Scheduler, Maven dependencies</a:t>
            </a:r>
          </a:p>
          <a:p>
            <a:pPr>
              <a:spcBef>
                <a:spcPts val="800"/>
              </a:spcBef>
            </a:pPr>
            <a:r>
              <a:rPr sz="1150" b="1">
                <a:solidFill>
                  <a:srgbClr val="10B981"/>
                </a:solidFill>
              </a:rPr>
              <a:t>Process Control: </a:t>
            </a:r>
            <a:r>
              <a:rPr sz="1150">
                <a:solidFill>
                  <a:srgbClr val="94A3B8"/>
                </a:solidFill>
              </a:rPr>
              <a:t>PM2 Ecosystem configuration, Docker-Compose, Powershell Launchers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2784" y="1828800"/>
            <a:ext cx="5175504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272784" y="1828800"/>
            <a:ext cx="5175504" cy="10972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47104" y="2103120"/>
            <a:ext cx="4626864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rial"/>
              </a:rPr>
              <a:t>Strategic Roadmap &amp; Scaling</a:t>
            </a:r>
          </a:p>
          <a:p>
            <a:pPr>
              <a:spcBef>
                <a:spcPts val="800"/>
              </a:spcBef>
            </a:pPr>
            <a:r>
              <a:rPr sz="1150" b="1">
                <a:solidFill>
                  <a:srgbClr val="EF4444"/>
                </a:solidFill>
              </a:rPr>
              <a:t>Local API Integration: </a:t>
            </a:r>
            <a:r>
              <a:rPr sz="1150">
                <a:solidFill>
                  <a:srgbClr val="94A3B8"/>
                </a:solidFill>
              </a:rPr>
              <a:t>Sync directly with regional health authorities and private hospital inventory management software arrays.</a:t>
            </a:r>
          </a:p>
          <a:p>
            <a:pPr>
              <a:spcBef>
                <a:spcPts val="800"/>
              </a:spcBef>
            </a:pPr>
            <a:r>
              <a:rPr sz="1150" b="1">
                <a:solidFill>
                  <a:srgbClr val="EF4444"/>
                </a:solidFill>
              </a:rPr>
              <a:t>Automated Alerts: </a:t>
            </a:r>
            <a:r>
              <a:rPr sz="1150">
                <a:solidFill>
                  <a:srgbClr val="94A3B8"/>
                </a:solidFill>
              </a:rPr>
              <a:t>Integrate automated cellular SMS/WhatsApp gateways for critical localized blood type shortage announcements.</a:t>
            </a:r>
          </a:p>
          <a:p>
            <a:pPr>
              <a:spcBef>
                <a:spcPts val="800"/>
              </a:spcBef>
            </a:pPr>
            <a:r>
              <a:rPr sz="1150" b="1">
                <a:solidFill>
                  <a:srgbClr val="EF4444"/>
                </a:solidFill>
              </a:rPr>
              <a:t>Advanced ML Models: </a:t>
            </a:r>
            <a:r>
              <a:rPr sz="1150">
                <a:solidFill>
                  <a:srgbClr val="94A3B8"/>
                </a:solidFill>
              </a:rPr>
              <a:t>Upgrade current Scikit-Learn pipelines to Deep Learning LSTM networks for long-term seasonal forecasting.</a:t>
            </a:r>
          </a:p>
          <a:p>
            <a:pPr>
              <a:spcBef>
                <a:spcPts val="800"/>
              </a:spcBef>
            </a:pPr>
            <a:r>
              <a:rPr sz="1150" b="1">
                <a:solidFill>
                  <a:srgbClr val="EF4444"/>
                </a:solidFill>
              </a:rPr>
              <a:t>Native Mobile App: </a:t>
            </a:r>
            <a:r>
              <a:rPr sz="1150">
                <a:solidFill>
                  <a:srgbClr val="94A3B8"/>
                </a:solidFill>
              </a:rPr>
              <a:t>Build native iOS and Android application platforms to implement geofenced emergency notification alerts.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984</Words>
  <Application>Microsoft Office PowerPoint</Application>
  <PresentationFormat>Widescreen</PresentationFormat>
  <Paragraphs>88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Jagadeeswar Reddy</cp:lastModifiedBy>
  <cp:revision>1</cp:revision>
  <dcterms:created xsi:type="dcterms:W3CDTF">2013-01-27T09:14:16Z</dcterms:created>
  <dcterms:modified xsi:type="dcterms:W3CDTF">2026-06-05T18:46:51Z</dcterms:modified>
  <cp:category/>
</cp:coreProperties>
</file>